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92" r:id="rId143"/>
    <p:sldId id="387" r:id="rId138"/>
    <p:sldId id="388" r:id="rId139"/>
    <p:sldId id="389" r:id="rId140"/>
    <p:sldId id="390" r:id="rId141"/>
    <p:sldId id="391" r:id="rId1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2015368-3D-Modelling-with-Blender-for-Beginner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1.0.png"/>
          <p:cNvPicPr>
            <a:picLocks noChangeAspect="1"/>
          </p:cNvPicPr>
          <p:nvPr/>
        </p:nvPicPr>
        <p:blipFill>
          <a:blip r:embed="rId2"/>
          <a:srcRect l="24212" r="24212"/>
          <a:stretch>
            <a:fillRect/>
          </a:stretch>
        </p:blipFill>
        <p:spPr>
          <a:xfrm>
            <a:off x="6172200" y="0"/>
            <a:ext cx="6016752" cy="6565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188720" cy="6565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0" y="0"/>
            <a:ext cx="1463040" cy="6565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19456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417320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5257800" cy="1645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30"/>
                </a:solidFill>
                <a:latin typeface="Arial"/>
              </a:rPr>
              <a:t>3D Modelling with Blender for Beginners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9476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D6878"/>
                </a:solidFill>
                <a:latin typeface="Arial"/>
              </a:rPr>
              <a:t>Course Code: TGS-2022015368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512064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Tertiary Infotech Academy Pte. Ltd.
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74920"/>
            <a:ext cx="51206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878"/>
                </a:solidFill>
                <a:latin typeface="Arial"/>
              </a:rPr>
              <a:t>Trainer: 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32120"/>
            <a:ext cx="51206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D6878"/>
                </a:solidFill>
                <a:latin typeface="Arial"/>
              </a:rPr>
              <a:t>Version v11.0 · 20 August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601968"/>
            <a:ext cx="11338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 · Concept visual generated for this course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Welcome, outcomes and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Two days · 16 hours · Blender 5.2 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the SSG digital attendance at the start of each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the afternoon attendance after lunch.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the assessment attendance before the WA and 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At least 75% attendance and a Competent result are required.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5D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D6878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108960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1912" y="2267712"/>
            <a:ext cx="1261872" cy="1261872"/>
          </a:xfrm>
          <a:prstGeom prst="ellipse">
            <a:avLst/>
          </a:prstGeom>
          <a:solidFill>
            <a:srgbClr val="5D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267712"/>
            <a:ext cx="1261872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67912"/>
            <a:ext cx="2587752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82230"/>
                </a:solidFill>
                <a:latin typeface="Arial"/>
              </a:rPr>
              <a:t>General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2587752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this profile before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78308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7830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85623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3794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2487168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2" y="2487168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560320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TITLE / DESIGNATION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42032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6512" y="3191256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6512" y="3191256"/>
            <a:ext cx="73152" cy="5669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264408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04CD9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3895344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6512" y="3895344"/>
            <a:ext cx="73152" cy="5669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968496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29F05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50208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4599432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96512" y="4599432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4672584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AND INDUSTRY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54296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530352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6512" y="5303520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537667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5838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108960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1912" y="2267712"/>
            <a:ext cx="1261872" cy="12618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267712"/>
            <a:ext cx="1261872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67912"/>
            <a:ext cx="2587752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82230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2587752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78308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7830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85623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3794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Principal Trainer and courseware 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2487168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2" y="2487168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560320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CERTIFICATION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42032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Adult education and applied technology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6512" y="3191256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6512" y="3191256"/>
            <a:ext cx="73152" cy="5669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264408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04CD9"/>
                </a:solidFill>
                <a:latin typeface="Arial"/>
              </a:rPr>
              <a:t>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AI, automation, data and digital design programmes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3895344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6512" y="3895344"/>
            <a:ext cx="73152" cy="5669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968496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29F05"/>
                </a:solidFill>
                <a:latin typeface="Arial"/>
              </a:rPr>
              <a:t>FOUNDER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50208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4599432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96512" y="4599432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4672584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54296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Concept-led teaching with evidence-based practice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530352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6512" y="5303520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537667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5838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Name, role and organisation.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Your exposure to Blender or 3D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Use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model or workflow you want to improve.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One capability you want to demonstrate by Day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Ground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Participate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Ask questions and explain your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Give constructive feedback on work, not people.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91840"/>
            <a:ext cx="82296" cy="135331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3520440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only authorised, non-confidential inputs.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291840"/>
            <a:ext cx="82296" cy="135331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3520440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Treat generated output as unverified until checked.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64608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509320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Save incremental copies before risky operations.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4204" y="4864608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5093208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316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0316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Capture the process, not only the final render.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TWO-DAY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Course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Analyse the brief, budget geometry and control Blender.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Model, sculpt, inspect and refine a prototype.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91840"/>
            <a:ext cx="82296" cy="135331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3520440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Rig, animate, surface and present the prototype.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291840"/>
            <a:ext cx="82296" cy="135331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3520440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Light, render, optimise and export the asset.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64608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509320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Eight connected, evidence-led Blender labs.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4204" y="4864608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5093208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316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Assessment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0316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Nine SAQs and four integrated practical tasks.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Lesson plan — two-day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Creative briefs and polygon budgets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Blender interface and scene control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Modelling, sculpting and topology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Labs 1–4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DAY 2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Materials, rigging and animation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Cameras, lighting and rendering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Optimisation and export</a:t>
            </a:r>
          </a:p>
        </p:txBody>
      </p:sp>
      <p:sp>
        <p:nvSpPr>
          <p:cNvPr id="26" name="Oval 25"/>
          <p:cNvSpPr/>
          <p:nvPr/>
        </p:nvSpPr>
        <p:spPr>
          <a:xfrm>
            <a:off x="6473952" y="4700016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Labs 5–8 · WA + 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BY THE END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Analyse a creative brief and establish a suitable polygon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Develop 3D models and prototypes in Blender.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Animate 3D models using suitable rigging, keyframe and presentation methods.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Optimise, light, render and export 3D models for the intended use.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MEDIA PRODUCTION · MED-MPN-3057-1.1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TSC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K1–K2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Creative brief, budgets, interface and scene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K3–K4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Modelling, sculpting, topology and modifiers.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K5–K9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Animation, materials, review, rendering and export.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A1–A8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Brief, build, animate, present, optimise and deliver.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READ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No discussion; complete your own submission.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91840"/>
            <a:ext cx="82296" cy="135331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3520440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Place phones and other unapproved materials under the 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291840"/>
            <a:ext cx="82296" cy="135331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3520440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No photography or recording of assessment scripts.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64608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509320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Writing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black/blue pen where hard copy is used; no correction fluid.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4204" y="4864608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5093208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316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Submission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0316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Upload the completed document to the LMS.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LIVE INSTRUMENT PARITY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Final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9 open-ended SAQs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K1–K9 coverage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60 minutes · open 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Practical Performance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4 integrated Blender tasks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A1–A8 coverage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90 minutes · open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Competency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Assessment attendance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Appeal and reassessment available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Assessment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TRAQOM / SSG attendance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Written Assessment (SAQ)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Upload answers to LMS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SELF-CONTAINED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Access the lab packs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Open the GitHub repository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Clone with Git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Work from labs/NN-title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Option B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GitHub Code menu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Download ZIP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Extract before opening 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Evidence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Follow INSTRUCTIONS.md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CHECKLIST.md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Update Example-Presentation.pptx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532120"/>
            <a:ext cx="854964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r:id="rId2"/>
          </p:cNvPr>
          <p:cNvSpPr txBox="1"/>
          <p:nvPr/>
        </p:nvSpPr>
        <p:spPr>
          <a:xfrm>
            <a:off x="1938528" y="5577840"/>
            <a:ext cx="832104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Open the GitHub lab repository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3D DESIGN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From blockout to production-ready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Compare the same design at three maturity levels: blockout, topology-controlled model and finished material render. Each level answers a different review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PROGRESS IS EARNED THROUGH EVIDENCE, NOT UNSUPPORTED PERCENTAGES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Production-readiness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Recognisable blockout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Controlled topology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Validated materials and motion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Target render and export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Clean round-trip handoff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COVERAGE AND MODERNISATION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Source-informed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Legacy v10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Preserved Blender foundations, modelling, sculpting, materials, animation and rendering.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Course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Aligned the verified two-day structure and four learning outcomes.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Reference labs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Reused the supplied editable Blender sample files as hands-on inputs.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Blender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Updated terminology and workflow for Blender 5.2 LTS.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Get Started with Blender and the Creative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Analyse requirements · establish budgets · control the scene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</p:spTree>
  </p:cSld>
  <p:transition spd="fast">
    <p:push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1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Analyse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establish budgets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LO1 · K1–K2 · A1–A2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1–2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Read the creative brief as a production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Audience, platform and viewing distance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Silhouette, proportion and reference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Constraints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Time, dimensions, format and budget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Named checks, views and approval owner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Read the creative brief as a production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must-haves from preferences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Resolve missing dimensions before modelling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Name the final approver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Freeze a versioned brief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Starting from an attractive image instead of requirements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Conflicting units or target platforms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measurable acceptance rule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Read the creative brief as a production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6.png"/>
          <p:cNvPicPr>
            <a:picLocks noChangeAspect="1"/>
          </p:cNvPicPr>
          <p:nvPr/>
        </p:nvPicPr>
        <p:blipFill>
          <a:blip r:embed="rId2"/>
          <a:srcRect l="14655" r="14655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Turn subjective intent into testable form, function and delivery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goldfish hero asset needs a readable silhouette, animated fins, a 500-polygon target and a GLB handoff.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All mandatory fields resolved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Polygon target recorded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Approver and evidence named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Set a polygon budget that matches the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Mobile, web, film, still or 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Allocate loops to visible and moving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Plan variants for different viewing conditions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statistics and triangulated counts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Set a polygon budget that matches the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Define whether the limit is faces or triangles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Reserve loops around eyes, mouth and fin roots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a budget margin for revisions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after modifiers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Counting before unapplied modifiers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Uniform density wastes geometry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Budget reduction destroys silhouette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Set a polygon budget that matches the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6.png"/>
          <p:cNvPicPr>
            <a:picLocks noChangeAspect="1"/>
          </p:cNvPicPr>
          <p:nvPr/>
        </p:nvPicPr>
        <p:blipFill>
          <a:blip r:embed="rId2"/>
          <a:srcRect l="27069" r="27069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Spend geometry where it changes silhouette, deformation or shading.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500-polygon fish keeps loops around the eye and tail while the body uses broad, clean quads.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Triangle count within target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Silhouette passes key views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Deformation zones retain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26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Understand Blender workspaces and editors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3D Viewport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Select, transform and inspect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Outliner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 hierarchy, collections and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 object, data, modifier and render 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Navigate frames and keyframes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27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Understand Blender workspaces and editors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a workspace for the current task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the Outliner visible on complex scenes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Confirm active object and mode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Save layout changes only when useful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Editing the wrong active object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Hidden collection mistaken for missing work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editor or mode causes commands to 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Understand Blender workspaces and editors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2.png"/>
          <p:cNvPicPr>
            <a:picLocks noChangeAspect="1"/>
          </p:cNvPicPr>
          <p:nvPr/>
        </p:nvPicPr>
        <p:blipFill>
          <a:blip r:embed="rId2"/>
          <a:srcRect l="14934" r="14934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Workspaces arrange editors; editors expose different views of the same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Layout workspace supports blockout; Sculpting and Shading workspaces expose specialised controls without changing the model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Correct object active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Correct mode visible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Scene hierarchy understandable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29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Navigate, select and transform with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Orbit, pan, zoom and frame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Object, component and hierarchy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Move, rotate and scale on constrained axes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Pivot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Median, cursor and individual origins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Navigate, select and transform with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orthographic views for proportion checks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Constrain transformations to an axis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scale before scale-sensitive tools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origins deliberately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Unapplied non-uniform scale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Accidental proportional editing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Origin placement breaks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31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Navigate, select and transform with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0.png"/>
          <p:cNvPicPr>
            <a:picLocks noChangeAspect="1"/>
          </p:cNvPicPr>
          <p:nvPr/>
        </p:nvPicPr>
        <p:blipFill>
          <a:blip r:embed="rId2"/>
          <a:srcRect l="14934" r="14934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Reliable modelling begins with controllable views, pivots and transforms.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Block a fish from side and top orthographic views, then inspect perspective for volume and proportion.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Transforms documented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Reference views aligned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No accidental offsets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32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Organise objects, data and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Transform containers that reference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Collections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Logical groups for visibility and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Names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Role-based, consistent object/material labels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Modifiers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Ordered, non-destructive 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33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Organise objects, data and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Name objects before duplication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Group exportable assets in one collection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a baseline before applying modifiers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Order Mirror before Subdivision where appropriate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Unclear Cube.001 naming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Modifier order changes the result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Applying too early removes editability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34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Organise objects, data and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4.png"/>
          <p:cNvPicPr>
            <a:picLocks noChangeAspect="1"/>
          </p:cNvPicPr>
          <p:nvPr/>
        </p:nvPicPr>
        <p:blipFill>
          <a:blip r:embed="rId2"/>
          <a:srcRect l="12917" r="12917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A clean scene makes decisions reversible and handoffs understandable.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fish body, eyes and fins are named, collected and mirrored non-destructively before detail is added.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Zero ambiguous names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Hierarchy matches deliverable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Modifier intent recorded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35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1 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Navigate Blender and organise a production scene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named, organised scene with a short evidence 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Lab 2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Interpret a fish brief, budget polygons and build a blockout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brief, scorecard and editable goldfish blockout within the stated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and plan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and refine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36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Navigate Blender and organise a production scene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You are onboarding to a small studio and must turn an unfamiliar Blender file into a controlled working scene.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named, organised scene with a short evidence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Navigate the interface, distinguish Object and Edit modes, organise objects and preserve a clean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37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1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38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1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Required editors and modes are correctly identified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Objects and collections use meaningful names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Transforms are intentional and recorded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Original starter remains 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Saved file reopens without missing data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named, organised scene with a short evidence presentation.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39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1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Required editors and modes are correctly identified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Objects and collections use meaningful names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Transforms are intentional and recorded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Original starter remains unchanged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Saved file reopens without missing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Interface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Perspective and orthographic comparison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Outliner hierarchy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Transform panel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Saved-version confirmation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40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2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Interpret a fish brief, budget polygons and build a blockout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client needs a recognisable goldfish prototype for a lightweight interactive scene.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brief, scorecard and editable goldfish blockout within the stated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K1–K2 · A1–A2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Translate the brief into criteria, allocate a polygon budget and create a modifier-led blockout.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41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2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2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Brief contains measurable 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Budget definition and allocation are explicit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Blockout silhouette matches the concept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Modifier workflow remains editable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Recorded count is within target or has a justified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brief, scorecard and editable goldfish blockout within the stated budget.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43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2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Brief contains measurable requirements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Budget definition and allocation are explicit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Blockout silhouette matches the concept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Modifier workflow remains editable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Recorded count is within target or has a justified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Creative brief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Polygon allocation table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Three key views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Modifier stack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Viewport statistics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44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1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1–2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LO1 · K1–K2 · A1–A2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45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Develop 3D Models and Prototypes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Block out form · sculpt detail · refine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46</a:t>
            </a:r>
          </a:p>
        </p:txBody>
      </p:sp>
    </p:spTree>
  </p:cSld>
  <p:transition spd="fast">
    <p:push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2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Block out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sculpt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LO2 · K3–K4, K7 · A3–A4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3–4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47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Translate concept art into three-dimensional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Front, side, top and perspective 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Landmarks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Eye line, widest body, fin roots and 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Primary, secondary and tertiary forms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Compare silhouette before detail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48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Translate concept art into three-dimensional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a dominant reference view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Mark proportion landmarks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Resolve contradictions explicitly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Review at intended camera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Perspective distortion in concept art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Detail hides proportion errors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Reference planes misaligned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49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Translate concept art into three-dimensional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0.png"/>
          <p:cNvPicPr>
            <a:picLocks noChangeAspect="1"/>
          </p:cNvPicPr>
          <p:nvPr/>
        </p:nvPicPr>
        <p:blipFill>
          <a:blip r:embed="rId2"/>
          <a:srcRect l="14526" r="14526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Use multiple views and landmark proportions; do not copy a single perspective literally.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fish blockout begins with body mass, tail plane and eye landmarks before scales or surface detail.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Landmarks align in key views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Silhouette recognisable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Primary volumes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50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Model with mesh anatomy and edge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Vertices, edges, faces and normals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Continuous paths around forms and joints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Quad-led structure with intentional poles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Normals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Face direction and smooth shading behaviour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51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Model with mesh anatomy and edge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Add loops only for form or deformation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poles away from bending areas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face orientation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Prefer clean local repairs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Non-manifold edges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Flipped normals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Dense, irregular topology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Model with mesh anatomy and edge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6.png"/>
          <p:cNvPicPr>
            <a:picLocks noChangeAspect="1"/>
          </p:cNvPicPr>
          <p:nvPr/>
        </p:nvPicPr>
        <p:blipFill>
          <a:blip r:embed="rId2"/>
          <a:srcRect l="15098" r="15098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Vertices, edges and faces form loops that support silhouette, shading and deformation.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Concentric eye loops support expression while longitudinal body loops preserve a smooth fish silhouette.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Manifold target met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Normals outward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Loops support animation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53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Use Edit Mode tools as a controlled 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Extrude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Extend connected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Create an inner 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 edge width and highlights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Loop Cut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Add resolution around a continuous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54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Use Edit Mode tools as a controlled 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Extrude along a constrained direction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stacked accidental extrusions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bevel width consistently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Add cuts where curvature needs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Duplicate faces from cancelled moves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Bevel pinching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Loop cut stops at poles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Use Edit Mode tools as a controlled 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1.png"/>
          <p:cNvPicPr>
            <a:picLocks noChangeAspect="1"/>
          </p:cNvPicPr>
          <p:nvPr/>
        </p:nvPicPr>
        <p:blipFill>
          <a:blip r:embed="rId2"/>
          <a:srcRect l="11510" r="11510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Extrude, inset, bevel and loop cut should each answer a form or topology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tail grows from an extrusion, while a small bevel produces a readable highlight without excessive subdivision.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No duplicate geometry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Curvature reads cleanly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Budget remains controlled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56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CONCEPT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Mesh quality — before and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optimiz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The same conceptual object can look similar in silhouette while differing radically in topology. Validate manifold status, edge flow and shading before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57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Sculpt from broad forms to controlled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Brushes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Grab, clay, smooth and crease for distinct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Symmetry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Preserve paired form while blocking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Dyntopo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Local dynamic detail with topology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Remesh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Redistribute resolution for sculpting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58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Sculpt from broad forms to controlled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Lock primary forms before detail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resolution for the current stage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Save before remesh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Retopologise if animation demands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Detail added at the wrong scale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Dyntopo destroys planned topology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Over-smoothing removes landmarks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59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Sculpt from broad forms to controlled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3.gif"/>
          <p:cNvPicPr>
            <a:picLocks noChangeAspect="1"/>
          </p:cNvPicPr>
          <p:nvPr/>
        </p:nvPicPr>
        <p:blipFill>
          <a:blip r:embed="rId2"/>
          <a:srcRect l="13030" r="13030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Sculpting is most predictable when resolution, symmetry and brush purpose are managed.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Grab establishes the fish belly and tail arc; Smooth removes noise; Crease defines the mouth only after proportions pass.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Primary form approved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Symmetry intentional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Topology plan stated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60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Review and refine the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Overlay reference and inspect key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Dimensions, transforms and polygon statistics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Normals, manifold status and modifier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Accept, repair or escalate with reasons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61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Review and refine the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Preserve a baseline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Review one failure class at a time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Capture before/after 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Record remaining limitations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Changing many variables at once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Review only the beauty render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trace of rejected versions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62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Review and refine the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3.png"/>
          <p:cNvPicPr>
            <a:picLocks noChangeAspect="1"/>
          </p:cNvPicPr>
          <p:nvPr/>
        </p:nvPicPr>
        <p:blipFill>
          <a:blip r:embed="rId2"/>
          <a:srcRect l="13947" r="13947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A prototype is accepted through criteria, evidence and iteration—not appearance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goldfish passes silhouette and 500-polygon criteria after a local tail repair and reduction of hidden underside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Acceptance checklist complete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Defects closed or owned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Version and reviewer recorded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63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2 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Model and sculpt the production goldfish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recognisable goldfish model with intentional form, topology and saved milestones.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Lab 4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Repair topology, normals and deformation zones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repaired, review-ready mesh with a defect log and before/after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and plan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and refine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64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3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Model and sculpt the production goldfish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approved blockout needs clearer anatomy and controlled detail without losing its low-cost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recognisable goldfish model with intentional form, topology and saved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K3–K4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Develop primary and secondary forms with suitable Edit Mode and sculpting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65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3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66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3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Primary and secondary forms are readable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Symmetry is intentional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Detail level matches the stage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Topology plan supports later animation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Milestone files and metrics are preserved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recognisable goldfish model with intentional form, topology and saved milestones.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67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3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Primary and secondary forms are readable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Symmetry is intentional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Detail level matches the stage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Topology plan supports later animation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Milestone files and metrics are preserved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Landmark view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Sculpting before/after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Wireframe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Polygon statistics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Decision explanation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68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4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Repair topology, normals and deformation zones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review finds shading defects, dense areas and weak edge flow around the 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repaired, review-ready mesh with a defect log and before/after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K4, K7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Diagnose and repair the supplied mesh, then prove the revised prototype meets its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69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4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70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4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unintended non-manifold geometry remains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Normals face outward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Silhouette remains approved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Tail deformation holds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Defect log links each issue to evidence and result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repaired, review-ready mesh with a defect log and before/after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71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4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 unintended non-manifold geometry remains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Normals face outward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Silhouette remains approved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Tail deformation holds volume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Defect log links each issue to evidence and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wireframe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Face-orientation view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Defect log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Deformation test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statistics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72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2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3–4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LO2 · K3–K4, K7 · A3–A4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04CD9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Animate and Present the 3D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Rig movement · keyframe action · surface and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704CD9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74</a:t>
            </a:r>
          </a:p>
        </p:txBody>
      </p:sp>
    </p:spTree>
  </p:cSld>
  <p:transition spd="fast">
    <p:push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3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Rig movement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keyframe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LO3 · K5–K8 · A5–A6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5–6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75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Apply animation principles to readable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Frames allocated to an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Spacing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Distance travelled between frames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Arcs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Natural curved motion paths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Overlap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Fins and tail follow the body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76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Apply animation principles to readable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Block key poses first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frame rate before animation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Exaggerate only for readability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Review motion at real speed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Even spacing feels robotic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anticipation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Secondary motion competes with the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77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Apply animation principles to readable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70.png"/>
          <p:cNvPicPr>
            <a:picLocks noChangeAspect="1"/>
          </p:cNvPicPr>
          <p:nvPr/>
        </p:nvPicPr>
        <p:blipFill>
          <a:blip r:embed="rId2"/>
          <a:srcRect l="18003" r="18003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Timing, spacing, anticipation and follow-through make mechanical keyframes feel intentional.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swim cycle leads with the body, then offsets the tail and fins to create overlap and a continuous arc.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Cycle loops cleanly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Pose silhouette readable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Timing matches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78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Rig with armatures and controlled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Joint chain and local axes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Parent-child motion relationships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Skinning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Bind mesh to the armature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 vertex influence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79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Rig with armatures and controlled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joints at meaningful bend zones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bone roll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extreme poses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Repair weights locally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Bone axes inconsistent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Weights leak across the body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Topology collapses at a bend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80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Rig with armatures and controlled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9.gif"/>
          <p:cNvPicPr>
            <a:picLocks noChangeAspect="1"/>
          </p:cNvPicPr>
          <p:nvPr/>
        </p:nvPicPr>
        <p:blipFill>
          <a:blip r:embed="rId2"/>
          <a:srcRect l="16987" r="16987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A rig is a deformation system whose hierarchy and weights must match intended movement.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simple body-to-tail bone chain bends the fish while fin bones provide subtle independent motion.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Extreme poses hold volume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No unintended vertices move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Hierarchy is named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81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Control keyframes, interpolation and curves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Keyframes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Location, rotation, scale or property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Interpolation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Constant, linear or Bézier transitions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F-Curves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value-over-time graphs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Dope Sheet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Timing and keyframe organisation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82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Control keyframes, interpolation and curves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Key only intended channels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linear for constant motion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Edit handles to remove overshoot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Cycle only seamless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Unwanted channels keyed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Bézier overshoot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Loop boundary jumps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83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Control keyframes, interpolation and curves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72.png"/>
          <p:cNvPicPr>
            <a:picLocks noChangeAspect="1"/>
          </p:cNvPicPr>
          <p:nvPr/>
        </p:nvPicPr>
        <p:blipFill>
          <a:blip r:embed="rId2"/>
          <a:srcRect l="18164" r="18164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Keyframes store states; interpolation and F-curves define how the values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fish translates linearly across the bowl while tail rotation uses smooth cyclic curves with offset timing.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No accidental keys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Curve shape justified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Loop boundary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84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Build materials from shaders, UVs and textures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Shader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Principled BSDF response to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Base colour, roughness, metallic and normal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2D coordinates with seams and islands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Texture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Image data with colour-space choices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85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Build materials from shaders, UVs and textures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Set scale before unwrapping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seams in low-visibility areas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Non-Color for data maps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under neutral 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Overlapping UVs unintentionally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colour space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Material judged under dramatic light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86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Build materials from shaders, UVs and textures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7.png"/>
          <p:cNvPicPr>
            <a:picLocks noChangeAspect="1"/>
          </p:cNvPicPr>
          <p:nvPr/>
        </p:nvPicPr>
        <p:blipFill>
          <a:blip r:embed="rId2"/>
          <a:srcRect l="12917" r="12917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Materials describe surface response; textures provide mapped data; UVs define how 2D data reaches the mesh.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fish uses a clean body UV, colour texture, moderate roughness and a subtle normal map that holds under rotation.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No unintended overlaps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Texel density consistent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Channels connected correctly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87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Present the prototype for useful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Brief and target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Neutral orthographic and perspective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Short loop at intended 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Pass, limitation and requested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88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Present the prototype for useful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comparable before/after views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Show statistics and version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State open risks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Ask a specific review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Only a beauty render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version identification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Feedback request too broad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89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Present the prototype for useful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8.png"/>
          <p:cNvPicPr>
            <a:picLocks noChangeAspect="1"/>
          </p:cNvPicPr>
          <p:nvPr/>
        </p:nvPicPr>
        <p:blipFill>
          <a:blip r:embed="rId2"/>
          <a:srcRect l="20578" r="20578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A review presentation should expose intent, process, evidence and the decision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review pack shows the concept, wireframe, UV/material view and swim cycle, then requests approval to proceed to final lighting.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All required views present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Decision owner named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Feedback logged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90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3 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UV unwrap and surface the goldfish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surfaced fish with validated UV layout, material channels and texture dependencies.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Lab 6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Rig and animate a looping swim cycle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rigged fish with a looped swim animation and deformation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and plan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and refine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91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5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UV unwrap and surface the goldfish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approved mesh needs a stable PBR material for close review and animation.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surfaced fish with validated UV layout, material channels and texture dependencies.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K6–K7 · 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Create controlled UVs, textures and a Principled BSDF material that remains readable under neutral light.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92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5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aterials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93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5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UVs have no unintended overlaps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Checker distortion is controlled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Material channels use correct colour spaces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Surface reads under neutral lighting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Texture dependencies are included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surfaced fish with validated UV layout, material channels and texture dependencies.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94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5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UVs have no unintended overlaps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distortion is controlled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Material channels use correct colour spaces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Surface reads under neutral lighting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Texture dependencies are included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UV layout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test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Shader node graph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 render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Dependency inventory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95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6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Rig and animate a looping swim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surfaced fish must perform a short, readable swim cycle for stakeholder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rigged fish with a looped swim animation and deformation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K5–K6 · A5–A6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Build a simple armature, validate deformation and animate a clean loop using controlled curves.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96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6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anim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97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6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Rig hierarchy and bones are named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Extreme poses hold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unintended vertices move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Animation loop is seamless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Timing and interpolation match the brief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rigged fish with a looped swim animation and deformation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98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6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Rig hierarchy and bones are named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Extreme poses hold volume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 unintended vertices move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Animation loop is seamless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Timing and interpolation match the brief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Armature hierarchy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Weight-paint view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Extreme-pose test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F-curve view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Loop playback or frame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99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3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5–6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LO3 · K5–K8 · A5–A6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9F05"/>
                </a:solidFill>
                <a:latin typeface="Arial"/>
              </a:rPr>
              <a:t>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Optimise, Render and Export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Frame the asset · validate quality · deliver reliably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F29F05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101</a:t>
            </a:r>
          </a:p>
        </p:txBody>
      </p:sp>
    </p:spTree>
  </p:cSld>
  <p:transition spd="fast">
    <p:push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4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Frame the asset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validate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LO4 · K8–K9 · A7–A8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7–8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4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Use cameras to control what the audience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Perspective or orthographic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Field of view and spatial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Focal point, balance and negative 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Focus plane and controlled blur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4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Use cameras to control what the audience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projection for the deliverable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lens distortion that changes review judgement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Lock approved cameras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DOF sparingly in evidence 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Wide lens distorts form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Clipped geometry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Beauty DOF hides defects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4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Use cameras to control what the audience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0.png"/>
          <p:cNvPicPr>
            <a:picLocks noChangeAspect="1"/>
          </p:cNvPicPr>
          <p:nvPr/>
        </p:nvPicPr>
        <p:blipFill>
          <a:blip r:embed="rId2"/>
          <a:srcRect l="8796" r="8796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Camera projection, lens, composition and depth of field must serve the communication goal.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50 mm perspective camera presents the fish naturally; orthographic cameras remain for proportion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Subject fully framed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Evidence views distortion-free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Camera named and 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105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4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Light form with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Primary form-defining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Controls shadow contrast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Separates silhouette from background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World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Ambient environment contribution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106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4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Light form with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Start with one light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large sources for soft highlights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colour management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presentation from diagnostic lighting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Flat multi-light setup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Blown highlights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Lighting masks surface problems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107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4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Light form with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7.png"/>
          <p:cNvPicPr>
            <a:picLocks noChangeAspect="1"/>
          </p:cNvPicPr>
          <p:nvPr/>
        </p:nvPicPr>
        <p:blipFill>
          <a:blip r:embed="rId2"/>
          <a:srcRect l="33519" r="33519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Light direction, size, intensity and colour reveal shape while controlling contrast and render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large area key reveals the body curve, a soft fill retains eye detail and a rim separates the tail.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Silhouette separated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Highlights retain detail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Neutral check render passes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108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4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Choose a render engine and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Workbench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Fast geometry and studio-light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Eevee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Real-time rasterised presentation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Path-traced lighting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Resolution, samples, format and colour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109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4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Choose a render engine and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Workbench for topology evidence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Eevee for fast iteration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Cycles when light transport matters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Set output before final render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Engine chosen by habit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Unbounded samples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colour or alpha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110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4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Choose a render engine and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0.png"/>
          <p:cNvPicPr>
            <a:picLocks noChangeAspect="1"/>
          </p:cNvPicPr>
          <p:nvPr/>
        </p:nvPicPr>
        <p:blipFill>
          <a:blip r:embed="rId2"/>
          <a:srcRect l="12917" r="12917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Workbench, Eevee and Cycles trade speed, realism and diagnostic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review uses Workbench wireframes, Eevee previews and a limited-sample Cycles final render.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Render purpose stated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Time within budget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Output settings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111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4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Optimise the complete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Delete hidden or duplicate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Transforms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Apply scale and confirm origin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Remove unused materials and orphan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Measure triangles, textures and render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112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4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Optimise the complete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Optimise against a measured baseline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Protect deformation loops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after each material change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the editable master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Destructive decimation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Missing texture dependency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Optimisation changes animation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113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4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Optimise the complete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2.png"/>
          <p:cNvPicPr>
            <a:picLocks noChangeAspect="1"/>
          </p:cNvPicPr>
          <p:nvPr/>
        </p:nvPicPr>
        <p:blipFill>
          <a:blip r:embed="rId2"/>
          <a:srcRect l="15202" r="15202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Optimisation removes cost without breaking silhouette, deformation, shading or required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final fish meets its target after hidden interior faces and redundant tail loops are removed, then the animation is retested.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Target budget met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Visual delta acceptable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Animation regression-free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4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Export and verify the delivery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GLB/glTF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Web and real-time PBR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FBX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Animation and pipeline interchange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OBJ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Simple static mesh interchange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Geometry-only fabrication workflow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115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4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Export and verify the delivery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Match axes, units and scale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Export only intended objects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Embed or package dependencies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Re-import and compare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Correct-looking source but broken export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Missing textures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axes or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116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4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Export and verify the delivery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12080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1.png"/>
          <p:cNvPicPr>
            <a:picLocks noChangeAspect="1"/>
          </p:cNvPicPr>
          <p:nvPr/>
        </p:nvPicPr>
        <p:blipFill>
          <a:blip r:embed="rId2"/>
          <a:srcRect l="15460" r="15460"/>
          <a:stretch>
            <a:fillRect/>
          </a:stretch>
        </p:blipFill>
        <p:spPr>
          <a:xfrm>
            <a:off x="822960" y="1947672"/>
            <a:ext cx="4882896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669280"/>
            <a:ext cx="46817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LEGACY BLENDER REFERENCE · CURRENT WORKFLOW EXPLAINED AT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58384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791456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82230"/>
                </a:solidFill>
                <a:latin typeface="Arial"/>
              </a:rPr>
              <a:t>An export is complete only after round-trip validation in a clean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9544"/>
            <a:ext cx="479145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38728"/>
            <a:ext cx="4791456" cy="8595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The approved fish is exported as GLB, reopened in a clean file and checked for dimensions, materials, hierarchy and animation.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07992"/>
            <a:ext cx="47914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48828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88289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64608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Clean re-import passes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5230368"/>
            <a:ext cx="274320" cy="2743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23036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212080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Dependencies present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5577840"/>
            <a:ext cx="274320" cy="2743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57784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559552"/>
            <a:ext cx="4251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82230"/>
                </a:solidFill>
                <a:latin typeface="Arial"/>
              </a:rPr>
              <a:t>Release manifest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117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4 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Create bubbles, light the scene and present for 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review scene with bubbles, three-point lighting and a decision-ready 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Lab 8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Optimise, render and export the fish-bowl capstone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release package containing editable source, GLB/FBX export, preview and validation manifest.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and plan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and refine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118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7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Create bubbles, light the scene and present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Stakeholders need a short aquarium presentation that keeps the fish readable and demonstrates controlled secondary motion.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review scene with bubbles, three-point lighting and a decision-ready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K8 · A6–A7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Add a lightweight bubble/force effect, build purposeful lighting and present a review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119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7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anim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120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7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Secondary motion supports rather than hides the fish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Simulation range is reproducible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Lighting reveals silhouette and material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Review evidence includes version and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Feedback and decision are recorded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review scene with bubbles, three-point lighting and a decision-ready presentation.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121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7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Secondary motion supports rather than hides the fish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Simulation range is reproducible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Lighting reveals silhouette and material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Review evidence includes version and metrics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Feedback and decision are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Particle settings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Simulation frame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Lighting diagram or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Review slide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Decision 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122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8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Optimise, render and export the fish-bowl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approved animated fish must be packaged for a lightweight viewer and handed off with verification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release package containing editable source, GLB/FBX export, preview and validation manifest.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K8–K9 · A7–A8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Optimise the full scene, render final evidence, export the intended asset and validate the package by round trip.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123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8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optimiz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124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8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Final source remains editable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Geometry and performance targets are met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Final renders use verified settings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Clean round-trip import passes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Manifest and package contain all dependencies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release package containing editable source, GLB/FBX export, preview and validation manifest.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125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8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source remains editable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Geometry and performance targets are met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renders use verified settings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Clean round-trip import passes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Manifest and package contain all dependencies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Before/after statistics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 and final renders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Export settings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Clean re-import checks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Release manifest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126</a:t>
            </a:r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4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Labs 7–8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LO4 · K8–K9 · A7–A8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127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Review, assessment and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From creative brief to verified Blender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128</a:t>
            </a:r>
          </a:p>
        </p:txBody>
      </p:sp>
    </p:spTree>
  </p:cSld>
  <p:transition spd="fast">
    <p:push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Translate the creative brief into a polygon budget and criteria.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Develop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Model, sculpt and refine a structured Blender prototype.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Animate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Rig, surface, keyframe and present a readable sequence.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Optimise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Light, render, export and verify the delivery package.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129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END-TO-END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Production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Brief and acceptance criteria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Blender blockout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Model, surface and animate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Validate and target export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Release package and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130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The accountable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771632" cy="324612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1001268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 creative idea becomes production-ready through modelling decisions, evidence and repeatable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22191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Release only what you can explain, validate and reproduce.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131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VISUAL ACCESS PATH · TRAINER-ONLY ANSWER KEYS ARE NEVER LEARNER-LINKED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Open LMS-TMS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Select this course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Download learner slides and guide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Open the Activities folder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Complete WA then 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5532120"/>
            <a:ext cx="658368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r:id="rId2"/>
          </p:cNvPr>
          <p:cNvSpPr txBox="1"/>
          <p:nvPr/>
        </p:nvSpPr>
        <p:spPr>
          <a:xfrm>
            <a:off x="2898648" y="5577840"/>
            <a:ext cx="6364224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Open course materials on LMS-TMS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DAY 2 · 3:30 PM–6:00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9 SAQs · K1–K9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60 minutes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Open 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PP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4 Blender tasks · A1–A8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90 minutes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Open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Complete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Assessment attendance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Upload to LMS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Sign summary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134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Assessment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TRAQOM / SSG attendance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Written Assessment (SAQ)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Upload answers to LMS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135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the QR code shown by the trainer or administrator.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Confirm the assessment attendance is recorded.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Sit the WA and PP within the declared timing.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Follow trainer instructions for assessment records.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136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771632" cy="324612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1001268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You are ready to model, animate, optimise and deliver 3D assets with Blender.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22191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Build deliberately. Validate rigorously.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137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3D Modelling with Blender for Beginners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132</a:t>
            </a:r>
          </a:p>
        </p:txBody>
      </p:sp>
      <p:pic>
        <p:nvPicPr>
          <p:cNvPr id="34" name="Picture 33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876" y="1723644"/>
            <a:ext cx="8463943" cy="421081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658368" y="6016752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